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852C7-E106-C187-7E9E-E2FD821A6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9D8B4A-8BF9-5175-970E-F684F4BA3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B58678-3F28-BE84-E04A-10AF5779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E81519-23C4-994F-73B7-51B9FC822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84FA4F-120D-7A33-41D9-9881E0F9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8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6AA06-786E-0649-F9B0-E7C31881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6F9F07-6355-1293-84A7-1E7782013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2C8B5E-02C1-42F8-5C44-90F117BB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EB2B4-1B58-2A59-FDD6-3244E373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BF04A3-4AE5-DC4C-78BC-7BAA6B696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8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D59A5-D29A-B49D-F21E-4785ECFD2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D66C4-96B1-8AAB-DA0A-A07D02B88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8E22E1-B539-52B3-99FF-D80A2620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87E7D4-9E04-4B50-379E-43C6BA59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7CB3F-F042-54E1-3ECC-808A27FE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32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68003-194B-42F2-1D40-5528412C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A4FDE0-9E08-E900-D731-1E83FEEF6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7F3A9D-206F-580A-6FBA-DF4E12746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CEDB66-D8C0-1A2F-761C-F43676F81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0B4B8-07BE-396B-66D9-B821BD2B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75374C-B143-0B3D-8317-8CA52D6E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7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A7B1B-7C24-712D-43EC-3183E2B16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BCA155-CF80-CF4E-842B-4D2AC32E9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A5CC88-09F8-9D4A-AE13-974CA16C0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AE4931-0271-7BB6-39FA-8CA5A3E33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2B260D-D199-6B3A-133C-D02E4F2E5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DD8CFD-B9BE-2F60-CA59-8B016C11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A10FE1-2374-978C-2DEE-FCD47008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81F617-DB8E-5B73-6DCF-F876C077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50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DB266-C3F8-3041-10E0-A04067AE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C4FC2D-0A1C-8E84-544B-846FE3F44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D53C70-E69E-44C3-07F7-6664D691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7B0867-03A0-EAE0-817A-9FCA76CD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65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440E44-E12C-8AF3-7497-2AB9234EB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7C49F-BD20-765A-E736-D8704273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AE1D4A-A48D-FDCF-776A-DDC8B88D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88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85AD3-960E-38C9-25AE-3F856C9A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4D0A36-5B31-6678-884A-943E8DBA6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B2EAD2-6955-D5E9-5051-51641D74A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71F2C5-FC7C-9837-13CE-F13D459D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870E8F-325A-07BB-083D-C198A929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99ACE6-CFB2-2387-C2E9-D0A87CE7E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168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21F19-74E1-CA17-EA3A-6405011A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55AA07-2B6C-A661-9446-1A2D6E2A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E5AAC-4548-0B23-CD15-37A1FB554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377CE9-E227-34BD-6FE3-FC2616E2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4E3399-8210-DFCF-69E0-63BD5184B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0AC3C8-0E25-1B6D-296A-9758F860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76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9EE91-1D70-B251-1708-6A840F30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CA38AD-D3D5-8572-E64D-2BE28E5FC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9FB69-03BF-7966-C3B3-9172EB6C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5D9FEA-D6D0-D8B7-B79D-E72AC945C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F641B1-8917-0C13-6835-6F23B0D19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26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E0D252-6334-DCFD-BB6F-A51BA11BF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A442D7-D73D-D064-1D68-0535D3C62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CF909A-6EC6-6F2E-D12E-1502A29D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78F26-AA47-E984-C1BA-497568F2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903985-923E-F8AD-4C0D-9C8A0B32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29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410BC1-A36C-D551-1298-80FA40C68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DD3866-1777-BC97-9428-4F12A7180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F4BF5-7990-A4E8-3849-6320DE116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6A420-5FD4-45D8-89AF-864F32A5B1C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F797E3-A077-1F1B-381A-79DC25839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116127-6F77-7A8D-5047-54CD95DE3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69CC7-3D61-41FE-9FFB-E74153F39E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57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DF146-FA0D-4922-47BA-5A5E6086F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PostgreSQL </a:t>
            </a:r>
            <a:r>
              <a:rPr lang="ko-KR" altLang="en-US" sz="4400" dirty="0"/>
              <a:t>기반 쇼핑몰 웹 서비스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84CE55-F2FF-AC3F-D719-A0B85FFF76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202201495 </a:t>
            </a:r>
            <a:r>
              <a:rPr lang="ko-KR" altLang="en-US" dirty="0" err="1"/>
              <a:t>유예림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416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F4DFD-DCA4-0B04-BC24-F5B0887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B18D9-77D9-261D-DE78-95E2F8530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657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PostgreSQL</a:t>
            </a:r>
            <a:r>
              <a:rPr lang="ko-KR" altLang="en-US" sz="2400" dirty="0"/>
              <a:t>을 </a:t>
            </a:r>
            <a:r>
              <a:rPr lang="ko-KR" altLang="en-US" sz="2400" dirty="0" err="1"/>
              <a:t>백엔드</a:t>
            </a:r>
            <a:r>
              <a:rPr lang="ko-KR" altLang="en-US" sz="2400" dirty="0"/>
              <a:t> 데이터베이스로 사용하는 쇼핑몰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사용자는 상품을 검색하고 장바구니에 담아 주문할 수 있으며</a:t>
            </a:r>
            <a:r>
              <a:rPr lang="en-US" altLang="ko-KR" sz="2400" dirty="0"/>
              <a:t>, </a:t>
            </a:r>
            <a:r>
              <a:rPr lang="ko-KR" altLang="en-US" sz="2400" dirty="0"/>
              <a:t>주문 내역 조회와 상품별 매출 통계 확인도 가능하다</a:t>
            </a:r>
            <a:r>
              <a:rPr lang="en-US" altLang="ko-KR" sz="2400" dirty="0"/>
              <a:t>. </a:t>
            </a:r>
            <a:r>
              <a:rPr lang="ko-KR" altLang="en-US" sz="2400" dirty="0" err="1"/>
              <a:t>백엔드는</a:t>
            </a:r>
            <a:r>
              <a:rPr lang="ko-KR" altLang="en-US" sz="2400" dirty="0"/>
              <a:t> </a:t>
            </a:r>
            <a:r>
              <a:rPr lang="en-US" altLang="ko-KR" sz="2400" dirty="0"/>
              <a:t>Node.js</a:t>
            </a:r>
            <a:r>
              <a:rPr lang="ko-KR" altLang="en-US" sz="2400" dirty="0"/>
              <a:t>와 </a:t>
            </a:r>
            <a:r>
              <a:rPr lang="en-US" altLang="ko-KR" sz="2400" dirty="0"/>
              <a:t>Express</a:t>
            </a:r>
            <a:r>
              <a:rPr lang="ko-KR" altLang="en-US" sz="2400" dirty="0"/>
              <a:t>로 구성했고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프론트엔드는</a:t>
            </a:r>
            <a:r>
              <a:rPr lang="ko-KR" altLang="en-US" sz="2400" dirty="0"/>
              <a:t> 별도 프레임워크 없이 바닐라 </a:t>
            </a:r>
            <a:r>
              <a:rPr lang="en-US" altLang="ko-KR" sz="2400" dirty="0"/>
              <a:t>JavaScript </a:t>
            </a:r>
            <a:r>
              <a:rPr lang="ko-KR" altLang="en-US" sz="2400" dirty="0"/>
              <a:t>단일 </a:t>
            </a:r>
            <a:r>
              <a:rPr lang="en-US" altLang="ko-KR" sz="2400" dirty="0"/>
              <a:t>HTML </a:t>
            </a:r>
            <a:r>
              <a:rPr lang="ko-KR" altLang="en-US" sz="2400" dirty="0"/>
              <a:t>파일로 작성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AA9635-5A5F-4E47-6081-F547458F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210" y="3429000"/>
            <a:ext cx="6160169" cy="272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8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C77206-13E0-0372-7447-A4681DAF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설계 </a:t>
            </a:r>
            <a:r>
              <a:rPr lang="en-US" altLang="ko-KR" dirty="0"/>
              <a:t>(ERD)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DFB2F-6C31-E64E-1016-F72E4F4EE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2411" cy="4351338"/>
          </a:xfrm>
        </p:spPr>
        <p:txBody>
          <a:bodyPr>
            <a:normAutofit fontScale="92500"/>
          </a:bodyPr>
          <a:lstStyle/>
          <a:p>
            <a:r>
              <a:rPr lang="en-US" altLang="ko-KR" sz="2400" dirty="0"/>
              <a:t>products </a:t>
            </a:r>
            <a:r>
              <a:rPr lang="ko-KR" altLang="en-US" sz="2400" dirty="0"/>
              <a:t>테이블은 상품 정보</a:t>
            </a:r>
            <a:r>
              <a:rPr lang="en-US" altLang="ko-KR" sz="2400" dirty="0"/>
              <a:t>(</a:t>
            </a:r>
            <a:r>
              <a:rPr lang="ko-KR" altLang="en-US" sz="2400" dirty="0"/>
              <a:t>이름</a:t>
            </a:r>
            <a:r>
              <a:rPr lang="en-US" altLang="ko-KR" sz="2400" dirty="0"/>
              <a:t>, </a:t>
            </a:r>
            <a:r>
              <a:rPr lang="ko-KR" altLang="en-US" sz="2400" dirty="0"/>
              <a:t>설명</a:t>
            </a:r>
            <a:r>
              <a:rPr lang="en-US" altLang="ko-KR" sz="2400" dirty="0"/>
              <a:t>, </a:t>
            </a:r>
            <a:r>
              <a:rPr lang="ko-KR" altLang="en-US" sz="2400" dirty="0"/>
              <a:t>가격</a:t>
            </a:r>
            <a:r>
              <a:rPr lang="en-US" altLang="ko-KR" sz="2400" dirty="0"/>
              <a:t>, </a:t>
            </a:r>
            <a:r>
              <a:rPr lang="ko-KR" altLang="en-US" sz="2400" dirty="0"/>
              <a:t>재고</a:t>
            </a:r>
            <a:r>
              <a:rPr lang="en-US" altLang="ko-KR" sz="2400" dirty="0"/>
              <a:t>, </a:t>
            </a:r>
            <a:r>
              <a:rPr lang="ko-KR" altLang="en-US" sz="2400" dirty="0"/>
              <a:t>카테고리</a:t>
            </a:r>
            <a:r>
              <a:rPr lang="en-US" altLang="ko-KR" sz="2400" dirty="0"/>
              <a:t>)</a:t>
            </a:r>
            <a:r>
              <a:rPr lang="ko-KR" altLang="en-US" sz="2400" dirty="0"/>
              <a:t>를 저장한다</a:t>
            </a:r>
            <a:r>
              <a:rPr lang="en-US" altLang="ko-KR" sz="2400" dirty="0"/>
              <a:t>. orders </a:t>
            </a:r>
            <a:r>
              <a:rPr lang="ko-KR" altLang="en-US" sz="2400" dirty="0"/>
              <a:t>테이블은 주문자 이름과 총 결제금액</a:t>
            </a:r>
            <a:r>
              <a:rPr lang="en-US" altLang="ko-KR" sz="2400" dirty="0"/>
              <a:t>, </a:t>
            </a:r>
            <a:r>
              <a:rPr lang="ko-KR" altLang="en-US" sz="2400" dirty="0"/>
              <a:t>주문 상태를 저장한다</a:t>
            </a:r>
            <a:r>
              <a:rPr lang="en-US" altLang="ko-KR" sz="2400" dirty="0"/>
              <a:t>. </a:t>
            </a:r>
            <a:r>
              <a:rPr lang="en-US" altLang="ko-KR" sz="2400" dirty="0" err="1"/>
              <a:t>order_items</a:t>
            </a:r>
            <a:r>
              <a:rPr lang="en-US" altLang="ko-KR" sz="2400" dirty="0"/>
              <a:t> </a:t>
            </a:r>
            <a:r>
              <a:rPr lang="ko-KR" altLang="en-US" sz="2400" dirty="0"/>
              <a:t>테이블은 하나의 주문에 포함된 각 상품의 수량과 단가를 저장하며</a:t>
            </a:r>
            <a:r>
              <a:rPr lang="en-US" altLang="ko-KR" sz="2400" dirty="0"/>
              <a:t>, orders</a:t>
            </a:r>
            <a:r>
              <a:rPr lang="ko-KR" altLang="en-US" sz="2400" dirty="0"/>
              <a:t>와 </a:t>
            </a:r>
            <a:r>
              <a:rPr lang="en-US" altLang="ko-KR" sz="2400" dirty="0"/>
              <a:t>products</a:t>
            </a:r>
            <a:r>
              <a:rPr lang="ko-KR" altLang="en-US" sz="2400" dirty="0"/>
              <a:t>를 외래 키로 참조한다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/>
              <a:t>orders</a:t>
            </a:r>
            <a:r>
              <a:rPr lang="ko-KR" altLang="en-US" sz="2400" dirty="0"/>
              <a:t>와 </a:t>
            </a:r>
            <a:r>
              <a:rPr lang="en-US" altLang="ko-KR" sz="2400" dirty="0" err="1"/>
              <a:t>order_items</a:t>
            </a:r>
            <a:r>
              <a:rPr lang="ko-KR" altLang="en-US" sz="2400" dirty="0"/>
              <a:t>는 </a:t>
            </a:r>
            <a:r>
              <a:rPr lang="en-US" altLang="ko-KR" sz="2400" dirty="0"/>
              <a:t>1:N </a:t>
            </a:r>
            <a:r>
              <a:rPr lang="ko-KR" altLang="en-US" sz="2400" dirty="0"/>
              <a:t>관계이고</a:t>
            </a:r>
            <a:r>
              <a:rPr lang="en-US" altLang="ko-KR" sz="2400" dirty="0"/>
              <a:t>, products</a:t>
            </a:r>
            <a:r>
              <a:rPr lang="ko-KR" altLang="en-US" sz="2400" dirty="0"/>
              <a:t>와 </a:t>
            </a:r>
            <a:r>
              <a:rPr lang="en-US" altLang="ko-KR" sz="2400" dirty="0" err="1"/>
              <a:t>order_items</a:t>
            </a:r>
            <a:r>
              <a:rPr lang="ko-KR" altLang="en-US" sz="2400" dirty="0"/>
              <a:t>도 </a:t>
            </a:r>
            <a:r>
              <a:rPr lang="en-US" altLang="ko-KR" sz="2400" dirty="0"/>
              <a:t>1:N </a:t>
            </a:r>
            <a:r>
              <a:rPr lang="ko-KR" altLang="en-US" sz="2400" dirty="0"/>
              <a:t>관계이다</a:t>
            </a:r>
            <a:r>
              <a:rPr lang="en-US" altLang="ko-KR" sz="2400" dirty="0"/>
              <a:t>. </a:t>
            </a:r>
            <a:r>
              <a:rPr lang="en-US" altLang="ko-KR" sz="2400" dirty="0" err="1"/>
              <a:t>order_items.order_id</a:t>
            </a:r>
            <a:r>
              <a:rPr lang="ko-KR" altLang="en-US" sz="2400" dirty="0"/>
              <a:t>는 </a:t>
            </a:r>
            <a:r>
              <a:rPr lang="en-US" altLang="ko-KR" sz="2400" dirty="0"/>
              <a:t>orders.id</a:t>
            </a:r>
            <a:r>
              <a:rPr lang="ko-KR" altLang="en-US" sz="2400" dirty="0"/>
              <a:t>를 참조하며 </a:t>
            </a:r>
            <a:r>
              <a:rPr lang="en-US" altLang="ko-KR" sz="2400" dirty="0"/>
              <a:t>ON DELETE CASCADE </a:t>
            </a:r>
            <a:r>
              <a:rPr lang="ko-KR" altLang="en-US" sz="2400" dirty="0"/>
              <a:t>옵션을 적용해</a:t>
            </a:r>
            <a:r>
              <a:rPr lang="en-US" altLang="ko-KR" sz="2400" dirty="0"/>
              <a:t>, </a:t>
            </a:r>
            <a:r>
              <a:rPr lang="ko-KR" altLang="en-US" sz="2400" dirty="0"/>
              <a:t>주문이 삭제되면 해당 주문의 상품 항목도 자동으로 삭제되도록 했다</a:t>
            </a:r>
            <a:r>
              <a:rPr lang="en-US" altLang="ko-KR" sz="24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BAB4F0-DAE8-6AA2-F28D-EEECE0509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07958"/>
            <a:ext cx="4385223" cy="448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46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63A13-9371-79DD-9306-DF0420AB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쿼리 </a:t>
            </a:r>
            <a:r>
              <a:rPr lang="en-US" altLang="ko-KR" dirty="0"/>
              <a:t>(1): </a:t>
            </a:r>
            <a:r>
              <a:rPr lang="ko-KR" altLang="en-US" dirty="0"/>
              <a:t>검색과 </a:t>
            </a:r>
            <a:r>
              <a:rPr lang="en-US" altLang="ko-KR" dirty="0"/>
              <a:t>JOIN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E1C31B-30A3-8C53-6232-C5FE5CFC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상품 검색 쿼리 </a:t>
            </a:r>
            <a:r>
              <a:rPr lang="en-US" altLang="ko-KR" sz="2400" dirty="0"/>
              <a:t>: </a:t>
            </a:r>
            <a:r>
              <a:rPr lang="ko-KR" altLang="en-US" sz="2400" dirty="0"/>
              <a:t>사용자가 검색어를 입력하면 상품명과 설명 컬럼 두 곳을 동시에 </a:t>
            </a:r>
            <a:r>
              <a:rPr lang="en-US" altLang="ko-KR" sz="2400" dirty="0"/>
              <a:t>ILIKE</a:t>
            </a:r>
            <a:r>
              <a:rPr lang="ko-KR" altLang="en-US" sz="2400" dirty="0"/>
              <a:t>로 검색한다</a:t>
            </a:r>
            <a:r>
              <a:rPr lang="en-US" altLang="ko-KR" sz="2400" dirty="0"/>
              <a:t>. </a:t>
            </a:r>
            <a:r>
              <a:rPr lang="ko-KR" altLang="en-US" sz="2400" dirty="0"/>
              <a:t>대소문자를 구분하지 않는 패턴 매칭이며</a:t>
            </a:r>
            <a:r>
              <a:rPr lang="en-US" altLang="ko-KR" sz="2400" dirty="0"/>
              <a:t>, </a:t>
            </a:r>
            <a:r>
              <a:rPr lang="ko-KR" altLang="en-US" sz="2400" dirty="0"/>
              <a:t>카테고리 필터도 동적으로 조합된다</a:t>
            </a:r>
            <a:r>
              <a:rPr lang="en-US" altLang="ko-KR" sz="2400" dirty="0"/>
              <a:t>. SQL Injection</a:t>
            </a:r>
            <a:r>
              <a:rPr lang="ko-KR" altLang="en-US" sz="2400" dirty="0"/>
              <a:t>을 방지하기 위해 모든 </a:t>
            </a:r>
            <a:r>
              <a:rPr lang="ko-KR" altLang="en-US" sz="2400" dirty="0" err="1"/>
              <a:t>입력값은</a:t>
            </a:r>
            <a:r>
              <a:rPr lang="ko-KR" altLang="en-US" sz="2400" dirty="0"/>
              <a:t> 파라미터 바인딩</a:t>
            </a:r>
            <a:r>
              <a:rPr lang="en-US" altLang="ko-KR" sz="2400" dirty="0"/>
              <a:t>($1, $2)</a:t>
            </a:r>
            <a:r>
              <a:rPr lang="ko-KR" altLang="en-US" sz="2400" dirty="0"/>
              <a:t>으로 처리했다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주문 내역 조회 쿼리 </a:t>
            </a:r>
            <a:r>
              <a:rPr lang="en-US" altLang="ko-KR" sz="2400" dirty="0"/>
              <a:t>: orders, </a:t>
            </a:r>
            <a:r>
              <a:rPr lang="en-US" altLang="ko-KR" sz="2400" dirty="0" err="1"/>
              <a:t>order_items</a:t>
            </a:r>
            <a:r>
              <a:rPr lang="en-US" altLang="ko-KR" sz="2400" dirty="0"/>
              <a:t>, products </a:t>
            </a:r>
            <a:r>
              <a:rPr lang="ko-KR" altLang="en-US" sz="2400" dirty="0"/>
              <a:t>세 테이블을 </a:t>
            </a:r>
            <a:r>
              <a:rPr lang="en-US" altLang="ko-KR" sz="2400" dirty="0"/>
              <a:t>JOIN</a:t>
            </a:r>
            <a:r>
              <a:rPr lang="ko-KR" altLang="en-US" sz="2400" dirty="0"/>
              <a:t>해서 한 번의 쿼리로 주문 정보와 포함된 상품 목록을 함께 가져온다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  PostgreSQL</a:t>
            </a:r>
            <a:r>
              <a:rPr lang="ko-KR" altLang="en-US" sz="2400" dirty="0"/>
              <a:t>의 </a:t>
            </a:r>
            <a:r>
              <a:rPr lang="en-US" altLang="ko-KR" sz="2400" dirty="0" err="1"/>
              <a:t>json_agg</a:t>
            </a:r>
            <a:r>
              <a:rPr lang="en-US" altLang="ko-KR" sz="2400" dirty="0"/>
              <a:t> </a:t>
            </a:r>
            <a:r>
              <a:rPr lang="ko-KR" altLang="en-US" sz="2400" dirty="0"/>
              <a:t>함수를 사용해 주문 한 건에 여러 상품 항목을 </a:t>
            </a:r>
            <a:r>
              <a:rPr lang="en-US" altLang="ko-KR" sz="2400" dirty="0"/>
              <a:t>JSON </a:t>
            </a:r>
            <a:r>
              <a:rPr lang="ko-KR" altLang="en-US" sz="2400" dirty="0"/>
              <a:t>배열로 묶어 반환했다</a:t>
            </a:r>
            <a:r>
              <a:rPr lang="en-US" altLang="ko-KR" sz="2400" dirty="0"/>
              <a:t>. </a:t>
            </a:r>
            <a:r>
              <a:rPr lang="ko-KR" altLang="en-US" sz="2400" dirty="0"/>
              <a:t>이를 통해 애플리케이션 레벨에서 별도 조합 없이 중첩된 데이터 구조를 한 번에 얻을 수 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262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6BF1-93D7-939B-C06C-76DE6B2C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B63FD-DC99-9319-23CC-7043D8B7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쿼리 </a:t>
            </a:r>
            <a:r>
              <a:rPr lang="en-US" altLang="ko-KR" dirty="0"/>
              <a:t>(2): </a:t>
            </a:r>
            <a:r>
              <a:rPr lang="ko-KR" altLang="en-US" dirty="0"/>
              <a:t>집계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329844-F47B-19F0-2DA4-029950E6C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599" cy="43513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매출 통계 쿼리는 </a:t>
            </a:r>
            <a:r>
              <a:rPr lang="en-US" altLang="ko-KR" dirty="0"/>
              <a:t>GROUP BY</a:t>
            </a:r>
            <a:r>
              <a:rPr lang="ko-KR" altLang="en-US" dirty="0"/>
              <a:t>와 집계 함수를 활용한다</a:t>
            </a:r>
            <a:r>
              <a:rPr lang="en-US" altLang="ko-KR" dirty="0"/>
              <a:t>. products </a:t>
            </a:r>
            <a:r>
              <a:rPr lang="ko-KR" altLang="en-US" dirty="0"/>
              <a:t>테이블을 기준으로 </a:t>
            </a:r>
            <a:r>
              <a:rPr lang="en-US" altLang="ko-KR" dirty="0" err="1"/>
              <a:t>order_items</a:t>
            </a:r>
            <a:r>
              <a:rPr lang="ko-KR" altLang="en-US" dirty="0"/>
              <a:t>를 </a:t>
            </a:r>
            <a:r>
              <a:rPr lang="en-US" altLang="ko-KR" dirty="0"/>
              <a:t>LEFT JOIN</a:t>
            </a:r>
            <a:r>
              <a:rPr lang="ko-KR" altLang="en-US" dirty="0"/>
              <a:t>해서 판매 기록이 없는 상품도 </a:t>
            </a:r>
            <a:r>
              <a:rPr lang="en-US" altLang="ko-KR" dirty="0"/>
              <a:t>0</a:t>
            </a:r>
            <a:r>
              <a:rPr lang="ko-KR" altLang="en-US" dirty="0"/>
              <a:t>으로 표시되도록 했다</a:t>
            </a:r>
            <a:r>
              <a:rPr lang="en-US" altLang="ko-KR" dirty="0"/>
              <a:t>. SUM(quantity)</a:t>
            </a:r>
            <a:r>
              <a:rPr lang="ko-KR" altLang="en-US" dirty="0"/>
              <a:t>로 총 판매 수량을</a:t>
            </a:r>
            <a:r>
              <a:rPr lang="en-US" altLang="ko-KR" dirty="0"/>
              <a:t>, SUM(quantity * </a:t>
            </a:r>
            <a:r>
              <a:rPr lang="en-US" altLang="ko-KR" dirty="0" err="1"/>
              <a:t>unit_price</a:t>
            </a:r>
            <a:r>
              <a:rPr lang="en-US" altLang="ko-KR" dirty="0"/>
              <a:t>)</a:t>
            </a:r>
            <a:r>
              <a:rPr lang="ko-KR" altLang="en-US" dirty="0"/>
              <a:t>로 총 매출액을 계산한다</a:t>
            </a:r>
            <a:r>
              <a:rPr lang="en-US" altLang="ko-KR" dirty="0"/>
              <a:t>. COALESCE</a:t>
            </a:r>
            <a:r>
              <a:rPr lang="ko-KR" altLang="en-US" dirty="0"/>
              <a:t>를 사용해 </a:t>
            </a:r>
            <a:r>
              <a:rPr lang="en-US" altLang="ko-KR" dirty="0"/>
              <a:t>NULL</a:t>
            </a:r>
            <a:r>
              <a:rPr lang="ko-KR" altLang="en-US" dirty="0"/>
              <a:t>을 </a:t>
            </a:r>
            <a:r>
              <a:rPr lang="en-US" altLang="ko-KR" dirty="0"/>
              <a:t>0</a:t>
            </a:r>
            <a:r>
              <a:rPr lang="ko-KR" altLang="en-US" dirty="0"/>
              <a:t>으로 처리했다</a:t>
            </a:r>
            <a:r>
              <a:rPr lang="en-US" altLang="ko-KR" dirty="0"/>
              <a:t>. </a:t>
            </a:r>
            <a:r>
              <a:rPr lang="ko-KR" altLang="en-US" dirty="0"/>
              <a:t>결과는 매출액 내림차순으로 정렬하여 어떤 상품이 가장 많이 팔렸는지 한눈에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299E3D-E79F-C5F9-E6DE-689A4942A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62" y="2400300"/>
            <a:ext cx="4953163" cy="257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1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88B17-DCFD-743B-AA2D-E84A9285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6032A-BFE0-6C1F-61AB-0ECC3193C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트랜잭션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039DE7-F0E3-AEEA-2465-2B67580F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2081" cy="4351338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주문 생성 </a:t>
            </a:r>
            <a:r>
              <a:rPr lang="en-US" altLang="ko-KR" sz="1800" dirty="0"/>
              <a:t>API</a:t>
            </a:r>
            <a:r>
              <a:rPr lang="ko-KR" altLang="en-US" sz="1800" dirty="0"/>
              <a:t>는 트랜잭션으로 처리된다</a:t>
            </a:r>
            <a:r>
              <a:rPr lang="en-US" altLang="ko-KR" sz="1800" dirty="0"/>
              <a:t>. </a:t>
            </a:r>
            <a:r>
              <a:rPr lang="ko-KR" altLang="en-US" sz="1800" dirty="0"/>
              <a:t>하나의 주문은 세 가지 </a:t>
            </a:r>
            <a:r>
              <a:rPr lang="en-US" altLang="ko-KR" sz="1800" dirty="0"/>
              <a:t>DB </a:t>
            </a:r>
            <a:r>
              <a:rPr lang="ko-KR" altLang="en-US" sz="1800" dirty="0"/>
              <a:t>작업이 반드시 모두 성공하거나 모두 실패해야 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첫째로 </a:t>
            </a:r>
            <a:r>
              <a:rPr lang="en-US" altLang="ko-KR" sz="1800" dirty="0"/>
              <a:t>orders </a:t>
            </a:r>
            <a:r>
              <a:rPr lang="ko-KR" altLang="en-US" sz="1800" dirty="0"/>
              <a:t>테이블에 주문 레코드를 삽입하고</a:t>
            </a:r>
            <a:r>
              <a:rPr lang="en-US" altLang="ko-KR" sz="1800" dirty="0"/>
              <a:t>, </a:t>
            </a:r>
            <a:r>
              <a:rPr lang="ko-KR" altLang="en-US" sz="1800" dirty="0"/>
              <a:t>둘째로 </a:t>
            </a:r>
            <a:r>
              <a:rPr lang="en-US" altLang="ko-KR" sz="1800" dirty="0" err="1"/>
              <a:t>order_items</a:t>
            </a:r>
            <a:r>
              <a:rPr lang="en-US" altLang="ko-KR" sz="1800" dirty="0"/>
              <a:t> </a:t>
            </a:r>
            <a:r>
              <a:rPr lang="ko-KR" altLang="en-US" sz="1800" dirty="0"/>
              <a:t>테이블에 주문 상품별 항목을 삽입하고</a:t>
            </a:r>
            <a:r>
              <a:rPr lang="en-US" altLang="ko-KR" sz="1800" dirty="0"/>
              <a:t>, </a:t>
            </a:r>
            <a:r>
              <a:rPr lang="ko-KR" altLang="en-US" sz="1800" dirty="0"/>
              <a:t>셋째로 </a:t>
            </a:r>
            <a:r>
              <a:rPr lang="en-US" altLang="ko-KR" sz="1800" dirty="0"/>
              <a:t>products </a:t>
            </a:r>
            <a:r>
              <a:rPr lang="ko-KR" altLang="en-US" sz="1800" dirty="0"/>
              <a:t>테이블에서 해당 상품의 재고를 차감한다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r>
              <a:rPr lang="ko-KR" altLang="en-US" sz="1800" dirty="0"/>
              <a:t>흐름은 다음과 같다</a:t>
            </a:r>
            <a:r>
              <a:rPr lang="en-US" altLang="ko-KR" sz="1800" dirty="0"/>
              <a:t>. </a:t>
            </a:r>
            <a:r>
              <a:rPr lang="ko-KR" altLang="en-US" sz="1800" dirty="0"/>
              <a:t>먼저 </a:t>
            </a:r>
            <a:r>
              <a:rPr lang="en-US" altLang="ko-KR" sz="1800" dirty="0"/>
              <a:t>BEGIN</a:t>
            </a:r>
            <a:r>
              <a:rPr lang="ko-KR" altLang="en-US" sz="1800" dirty="0"/>
              <a:t>으로 트랜잭션을 시작한다</a:t>
            </a:r>
            <a:r>
              <a:rPr lang="en-US" altLang="ko-KR" sz="1800" dirty="0"/>
              <a:t>. </a:t>
            </a:r>
            <a:r>
              <a:rPr lang="ko-KR" altLang="en-US" sz="1800" dirty="0"/>
              <a:t>그 다음 각 상품에 대해 </a:t>
            </a:r>
            <a:r>
              <a:rPr lang="en-US" altLang="ko-KR" sz="1800" dirty="0"/>
              <a:t>FOR UPDATE</a:t>
            </a:r>
            <a:r>
              <a:rPr lang="ko-KR" altLang="en-US" sz="1800" dirty="0"/>
              <a:t>로 행 잠금을 걸어 동시 주문 시 재고가 중복 차감되는 문제를 막는다</a:t>
            </a:r>
            <a:r>
              <a:rPr lang="en-US" altLang="ko-KR" sz="1800" dirty="0"/>
              <a:t>. </a:t>
            </a:r>
            <a:r>
              <a:rPr lang="ko-KR" altLang="en-US" sz="1800" dirty="0"/>
              <a:t>재고가 부족하면 즉시 예외를 던지고 </a:t>
            </a:r>
            <a:r>
              <a:rPr lang="en-US" altLang="ko-KR" sz="1800" dirty="0"/>
              <a:t>ROLLBACK</a:t>
            </a:r>
            <a:r>
              <a:rPr lang="ko-KR" altLang="en-US" sz="1800" dirty="0"/>
              <a:t>으로 전체를 취소한다</a:t>
            </a:r>
            <a:r>
              <a:rPr lang="en-US" altLang="ko-KR" sz="1800" dirty="0"/>
              <a:t>. </a:t>
            </a:r>
            <a:r>
              <a:rPr lang="ko-KR" altLang="en-US" sz="1800" dirty="0"/>
              <a:t>모든 작업이 성공하면 </a:t>
            </a:r>
            <a:r>
              <a:rPr lang="en-US" altLang="ko-KR" sz="1800" dirty="0"/>
              <a:t>COMMIT</a:t>
            </a:r>
            <a:r>
              <a:rPr lang="ko-KR" altLang="en-US" sz="1800" dirty="0"/>
              <a:t>으로 영구 반영한다</a:t>
            </a:r>
            <a:r>
              <a:rPr lang="en-US" altLang="ko-KR" sz="1800" dirty="0"/>
              <a:t>. finally </a:t>
            </a:r>
            <a:r>
              <a:rPr lang="ko-KR" altLang="en-US" sz="1800" dirty="0"/>
              <a:t>블록에서 반드시 </a:t>
            </a:r>
            <a:r>
              <a:rPr lang="en-US" altLang="ko-KR" sz="1800" dirty="0" err="1"/>
              <a:t>client.release</a:t>
            </a:r>
            <a:r>
              <a:rPr lang="en-US" altLang="ko-KR" sz="1800" dirty="0"/>
              <a:t>()</a:t>
            </a:r>
            <a:r>
              <a:rPr lang="ko-KR" altLang="en-US" sz="1800" dirty="0"/>
              <a:t>를 호출해 커넥션 풀에 반환한다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699616-F3D6-51C1-63F2-C6EF55308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618" y="910446"/>
            <a:ext cx="4324954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3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91DA8-07E8-4E92-9347-7D24F11FB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C3A0D-BAF8-6E31-8101-6A17DD3F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성능 측정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07A04A-1724-6C7F-CCCC-9E1B56253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쿼리 유형별 실행 시간을 측정하는 벤치마크 기능을 구현했다</a:t>
            </a:r>
            <a:r>
              <a:rPr lang="en-US" altLang="ko-KR" dirty="0"/>
              <a:t>. </a:t>
            </a:r>
            <a:r>
              <a:rPr lang="ko-KR" altLang="en-US" dirty="0"/>
              <a:t>단순 </a:t>
            </a:r>
            <a:r>
              <a:rPr lang="en-US" altLang="ko-KR" dirty="0"/>
              <a:t>SELECT, ILIKE </a:t>
            </a:r>
            <a:r>
              <a:rPr lang="ko-KR" altLang="en-US" dirty="0"/>
              <a:t>검색</a:t>
            </a:r>
            <a:r>
              <a:rPr lang="en-US" altLang="ko-KR" dirty="0"/>
              <a:t>, 3-</a:t>
            </a:r>
            <a:r>
              <a:rPr lang="ko-KR" altLang="en-US" dirty="0"/>
              <a:t>테이블 </a:t>
            </a:r>
            <a:r>
              <a:rPr lang="en-US" altLang="ko-KR" dirty="0"/>
              <a:t>JOIN, GROUP BY </a:t>
            </a:r>
            <a:r>
              <a:rPr lang="ko-KR" altLang="en-US" dirty="0"/>
              <a:t>집계 네 가지 쿼리를 각각 </a:t>
            </a:r>
            <a:r>
              <a:rPr lang="en-US" altLang="ko-KR" dirty="0"/>
              <a:t>N</a:t>
            </a:r>
            <a:r>
              <a:rPr lang="ko-KR" altLang="en-US" dirty="0"/>
              <a:t>회 반복 실행해서 평균</a:t>
            </a:r>
            <a:r>
              <a:rPr lang="en-US" altLang="ko-KR" dirty="0"/>
              <a:t>/</a:t>
            </a:r>
            <a:r>
              <a:rPr lang="ko-KR" altLang="en-US" dirty="0"/>
              <a:t>최소</a:t>
            </a:r>
            <a:r>
              <a:rPr lang="en-US" altLang="ko-KR" dirty="0"/>
              <a:t>/</a:t>
            </a:r>
            <a:r>
              <a:rPr lang="ko-KR" altLang="en-US" dirty="0"/>
              <a:t>최대 실행 시간을 </a:t>
            </a:r>
            <a:r>
              <a:rPr lang="ko-KR" altLang="en-US" dirty="0" err="1"/>
              <a:t>밀리초</a:t>
            </a:r>
            <a:r>
              <a:rPr lang="ko-KR" altLang="en-US" dirty="0"/>
              <a:t> 단위로 측정한다</a:t>
            </a:r>
            <a:r>
              <a:rPr lang="en-US" altLang="ko-KR" dirty="0"/>
              <a:t>. </a:t>
            </a:r>
            <a:r>
              <a:rPr lang="ko-KR" altLang="en-US" dirty="0"/>
              <a:t>서버 사이드에서</a:t>
            </a:r>
            <a:r>
              <a:rPr lang="en-US" altLang="ko-KR" dirty="0" err="1"/>
              <a:t>process.hrtime.bigint</a:t>
            </a:r>
            <a:r>
              <a:rPr lang="en-US" altLang="ko-KR" dirty="0"/>
              <a:t>()</a:t>
            </a:r>
            <a:r>
              <a:rPr lang="ko-KR" altLang="en-US" dirty="0"/>
              <a:t>를 사용해 </a:t>
            </a:r>
            <a:r>
              <a:rPr lang="ko-KR" altLang="en-US" dirty="0" err="1"/>
              <a:t>나노초</a:t>
            </a:r>
            <a:r>
              <a:rPr lang="ko-KR" altLang="en-US" dirty="0"/>
              <a:t> 단위로 측정한 뒤 </a:t>
            </a:r>
            <a:r>
              <a:rPr lang="ko-KR" altLang="en-US" dirty="0" err="1"/>
              <a:t>밀리초로</a:t>
            </a:r>
            <a:r>
              <a:rPr lang="ko-KR" altLang="en-US" dirty="0"/>
              <a:t> 변환한다</a:t>
            </a:r>
            <a:r>
              <a:rPr lang="en-US" altLang="ko-KR" dirty="0"/>
              <a:t>. </a:t>
            </a:r>
            <a:r>
              <a:rPr lang="ko-KR" altLang="en-US" dirty="0"/>
              <a:t>모든 </a:t>
            </a:r>
            <a:r>
              <a:rPr lang="en-US" altLang="ko-KR" dirty="0"/>
              <a:t>API </a:t>
            </a:r>
            <a:r>
              <a:rPr lang="ko-KR" altLang="en-US" dirty="0"/>
              <a:t>요청에는 응답 시간 미들웨어가 붙어 있어 서버 콘솔에 각 요청의 처리 시간이 자동으로 기록된다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5016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537</Words>
  <Application>Microsoft Office PowerPoint</Application>
  <PresentationFormat>와이드스크린</PresentationFormat>
  <Paragraphs>23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맑은 고딕</vt:lpstr>
      <vt:lpstr>Office 테마</vt:lpstr>
      <vt:lpstr>PostgreSQL 기반 쇼핑몰 웹 서비스</vt:lpstr>
      <vt:lpstr>개요</vt:lpstr>
      <vt:lpstr>데이터베이스 설계 (ERD)</vt:lpstr>
      <vt:lpstr>주요 쿼리 (1): 검색과 JOIN</vt:lpstr>
      <vt:lpstr>주요 쿼리 (2): 집계</vt:lpstr>
      <vt:lpstr>트랜잭션</vt:lpstr>
      <vt:lpstr>성능 측정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예림 유</dc:creator>
  <cp:lastModifiedBy>예림 유</cp:lastModifiedBy>
  <cp:revision>1</cp:revision>
  <dcterms:created xsi:type="dcterms:W3CDTF">2026-06-05T13:48:32Z</dcterms:created>
  <dcterms:modified xsi:type="dcterms:W3CDTF">2026-06-05T14:33:15Z</dcterms:modified>
</cp:coreProperties>
</file>